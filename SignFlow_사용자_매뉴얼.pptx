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SignFlow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5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매뉴얼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32004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디지털 사이니지 통합 관리 플랫폼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v5.5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548640"/>
            <a:ext cx="37490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D:\work\claude_project\magicinfo\screenshots\02_dashboar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rcRect l="0" r="0" t="0" b="0"/>
          <a:stretch/>
        </p:blipFill>
        <p:spPr>
          <a:xfrm>
            <a:off x="5029200" y="548640"/>
            <a:ext cx="37490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목차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05256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05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" y="868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시작하기 / 로그인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5528" y="1344168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63624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15270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대시보드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" y="2002536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2219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" y="21854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콘텐츠 관리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" y="2660904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880360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" y="28437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플레이리스트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528" y="3319272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538728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" y="3502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스케줄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5528" y="3977640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197096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채널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905256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905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30368" y="868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태그 기반 조건부 재생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230368" y="1344168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563624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0368" y="15270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콘텐츠 표시 우선순위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230368" y="2002536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2219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30368" y="21854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장치 관리 &amp; 모니터링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230368" y="2660904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880360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30368" y="28437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긴급 방송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230368" y="3319272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538728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30368" y="3502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스크린 월 &amp; 동기화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230368" y="3977640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4197096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30368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캔버스 에디터 &amp; 레이아웃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572000" y="868680"/>
            <a:ext cx="0" cy="40233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시작하기 — 로그인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01 / Getting Started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5486400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D:\work\claude_project\magicinfo\screenshots\01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22960"/>
            <a:ext cx="54864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86868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9048" y="8503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접속 방법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12801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1216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브라우저에서 SignFlow URL 접속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158191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0488" y="15179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이메일 + 비밀번호 입력 후 로그인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18836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0488" y="1819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테스트 계정 버튼으로 빠른 접속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2258568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99048" y="2240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역할별 권한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267004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0488" y="2606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SUPER_ADMIN — 전체 시스템 관리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29718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0488" y="2907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TENANT_ADMIN — 사용자·설정 관리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327355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0488" y="32095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STORE_MANAGER — 매장 운영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35040" y="357530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90488" y="35112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USER — 콘텐츠·스케줄 생성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35040" y="387705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90488" y="3813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VIEWER — 읽기 전용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56032" y="4407408"/>
            <a:ext cx="8631936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6032" y="4407408"/>
            <a:ext cx="73152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440740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4ED8"/>
                </a:solidFill>
              </a:rPr>
              <a:t>💡  테스트 계정: superadmin@signflow.com / superadmin123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대시보드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02 / Dashboard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5486400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D:\work\claude_project\magicinfo\screenshots\02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22960"/>
            <a:ext cx="54864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86868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9048" y="8503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주요 지표 카드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12801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1216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전체 콘텐츠 수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158191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0488" y="15179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등록 장치 / 온라인 장치 수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18836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0488" y="1819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활성 스케줄 수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218541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0488" y="2121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스토리지 사용량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89320" y="256032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99048" y="25420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차트 &amp; 분석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35040" y="29718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0488" y="2907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재생 트렌드 (최근 7일)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327355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0488" y="32095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장치 상태 도넛 차트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89320" y="3648456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99048" y="36301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최근 활동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035040" y="405993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90488" y="3995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최근 업로드 콘텐츠 목록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53912" y="4370832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91072" y="4297680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카드 클릭 → 해당 페이지 이동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56032" y="4407408"/>
            <a:ext cx="8631936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56032" y="4407408"/>
            <a:ext cx="73152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440740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4ED8"/>
                </a:solidFill>
              </a:rPr>
              <a:t>💡  숫자 카드를 클릭하면 해당 관리 페이지로 바로 이동합니다.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콘텐츠 관리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03 / Content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5486400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D:\work\claude_project\magicinfo\screenshots\03_cont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22960"/>
            <a:ext cx="54864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86868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9048" y="8503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지원 형식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12801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1216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이미지 (JPG, PNG, GIF, WebP)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158191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0488" y="15179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동영상 (MP4, WebM)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18836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0488" y="1819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오디오 (MP3), HTML, 문서 (PDF)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2258568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99048" y="2240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생애주기 관리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267004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0488" y="2606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시작일 (엠바고) — 해당일부터 게시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29718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0488" y="2907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만료일 — 해당일 이후 자동 만료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327355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0488" y="32095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수동 비활성화/활성화 가능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89320" y="3648456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99048" y="36301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게시 상태 색상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153912" y="4069080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91072" y="3995928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초록=게시중  파랑=예약됨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53912" y="4343400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91072" y="4270248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회색=만료  빨강=비활성화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56032" y="4407408"/>
            <a:ext cx="8631936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56032" y="4407408"/>
            <a:ext cx="73152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440740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4ED8"/>
                </a:solidFill>
              </a:rPr>
              <a:t>💡  그리드/리스트 뷰 전환, 유형·상태별 필터, 이름 검색을 지원합니다.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플레이리스트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04 / Playlists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5486400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D:\work\claude_project\magicinfo\screenshots\04_playlis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22960"/>
            <a:ext cx="54864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86868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9048" y="8503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플레이리스트란?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12801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1216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여러 콘텐츠를 순서대로 묶은 재생 목록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1655064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99048" y="16367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주요 유형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206654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0488" y="20025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일반 — 순서대로 반복 재생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236829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0488" y="2304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태그 기반 — 장치별 다른 콘텐츠 재생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267004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0488" y="2606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동기화 — 여러 장치 동시 재생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29718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0488" y="2907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비디오월 — 스크린 월 전용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89320" y="3346704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99048" y="33284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에디터 기능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035040" y="375818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90488" y="36941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드래그 앤 드롭으로 순서 변경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35040" y="405993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90488" y="3995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항목별 재생 시간(초) 설정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53912" y="4370832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91072" y="4297680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전환 효과: 없음/페이드/슬라이드/줌/블러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56032" y="4407408"/>
            <a:ext cx="8631936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56032" y="4407408"/>
            <a:ext cx="73152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440740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4ED8"/>
                </a:solidFill>
              </a:rPr>
              <a:t>💡  편집 후 반드시 저장 버튼을 클릭해야 변경사항이 적용됩니다.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스케줄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05 / Schedules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5486400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D:\work\claude_project\magicinfo\screenshots\05_schedu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22960"/>
            <a:ext cx="54864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86868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9048" y="8503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스케줄이란?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12801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1216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언제, 어느 장치에서 재생할지 지정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1655064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99048" y="16367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주요 설정 항목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206654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0488" y="20025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콘텐츠 소스: 플레이리스트 또는 레이아웃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236829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0488" y="2304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날짜 범위 + 시간대 (예: 09:00~18:00)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267004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0488" y="2606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반복: 없음 / 매일 / 매주 / 매월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29718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0488" y="2907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장치 선택 (다중 선택 가능)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89320" y="3346704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99048" y="33284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⚠ 배포를 꼭 해야 적용됩니다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153912" y="3767328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91072" y="3694176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DRAFT 상태 → 배포 버튼 클릭 → ACTIVE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153912" y="4041648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91072" y="3968496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시간대 충돌 감지 → 강제 배포 선택 가능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56032" y="4407408"/>
            <a:ext cx="8631936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6032" y="4407408"/>
            <a:ext cx="73152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440740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4ED8"/>
                </a:solidFill>
              </a:rPr>
              <a:t>💡  스케줄을 만든 후 배포(Deploy) 버튼을 누르지 않으면 장치에 적용되지 않습니다!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채널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06 / Channels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5486400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D:\work\claude_project\magicinfo\screenshots\06_channe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22960"/>
            <a:ext cx="54864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86868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9048" y="8503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채널이란?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12801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1216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스케줄이 없을 때 재생되는 기본 콘텐츠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53912" y="1591056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1072" y="151790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항상 켜져 있는 기본 화면 역할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89320" y="1929384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99048" y="19110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채널 설정 순서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23408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0488" y="22768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① 새 채널 생성 (이름·설명 입력)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264261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0488" y="2578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② 콘텐츠 관리 → 재생할 콘텐츠 추가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294436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0488" y="2880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③ 장치 관리 → 연결할 장치 선택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89320" y="3319272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99048" y="33009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기본 채널 (★)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153912" y="3739896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91072" y="366674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특별 예약 없을 때 우선 재생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153912" y="4014216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91072" y="394106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채널 생성 시 "기본 채널로 설정" 활성화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56032" y="4407408"/>
            <a:ext cx="8631936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6032" y="4407408"/>
            <a:ext cx="73152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440740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4ED8"/>
                </a:solidFill>
              </a:rPr>
              <a:t>💡  채널에 장치를 연결해야 합니다. 장치 관리 버튼에서 연결하지 않으면 재생되지 않습니다.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태그 기반 조건부 재생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07 / Tag-based Conditional Playback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5486400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D:\work\claude_project\magicinfo\screenshots\07_tag_p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22960"/>
            <a:ext cx="54864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86868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9048" y="8503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조건부 재생이란?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12801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1216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장치마다 다른 콘텐츠를 자동 재생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53912" y="1591056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1072" y="151790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같은 스케줄 → 태그 조건에 따라 분기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89320" y="1929384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99048" y="19110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설정 순서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23408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0488" y="22768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① 장치에 태그 설정 (Key:Value)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53912" y="2651760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91072" y="2578608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예) location=entrance, floor=2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35040" y="291693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0488" y="2852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② 스케줄 상세 → 조건부 재생 섹션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321868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0488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③ 태그 조건 + 재생 플레이리스트 지정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89320" y="3593592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99048" y="35753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활용 예시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153912" y="4014216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91072" y="394106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1층 입구 → 홍보 영상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53912" y="4288536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91072" y="421538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2층 계산대 → 프로모션 영상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56032" y="4407408"/>
            <a:ext cx="8631936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56032" y="4407408"/>
            <a:ext cx="73152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440740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4ED8"/>
                </a:solidFill>
              </a:rPr>
              <a:t>💡  조건이 일치하지 않으면 스케줄의 기본 플레이리스트가 재생됩니다.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콘텐츠 표시 우선순위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08 / Content Priority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1순위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🚨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0756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긴급 방송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활성화 시 모든 것을 가리고 즉시 표시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95728" y="1965960"/>
            <a:ext cx="128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42032" y="96012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960120"/>
            <a:ext cx="192024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2순위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33472" y="20756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스케줄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33472" y="2514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현재 시간에 해당하는 활성 스케줄 재생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1965960"/>
            <a:ext cx="128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26864" y="96012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960120"/>
            <a:ext cx="19202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3순위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26864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📺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18304" y="20756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채널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18304" y="2514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스케줄이 없는 시간대의 기본 콘텐츠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65392" y="1965960"/>
            <a:ext cx="128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11696" y="96012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11696" y="960120"/>
            <a:ext cx="192024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11696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없음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11696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⬜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803136" y="20756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빈 화면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03136" y="2514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아무것도 설정되지 않은 경우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840480"/>
            <a:ext cx="73152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84048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</a:rPr>
              <a:t>스케줄 내 세부 분기:  태그 조건 규칙 있음 → 조건에 맞는 플레이리스트 재생  |  없음 → 스케줄 기본 플레이리스트 재생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장치 관리 &amp; 모니터링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09 / Devices &amp; Monitoring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5486400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D:\work\claude_project\magicinfo\screenshots\08_devic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22960"/>
            <a:ext cx="54864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86868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9048" y="8503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장치 등록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12801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1216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이름, 장치 ID, IP, MAC, 모델 입력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158191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0488" y="15179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매장 및 그룹 할당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89320" y="1956816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99048" y="1938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장치 상태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236829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0488" y="2304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온라인 (초록) / 오프라인 (회색) / 경고 (주황)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89320" y="274320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99048" y="27249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실시간 모니터링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35040" y="3154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0488" y="3090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모니터링 메뉴 → 장치별 실시간 스크린샷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345643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0488" y="3392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전체 새로고침 / 장치별 개별 캡처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53912" y="3767328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91072" y="3694176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자동 새로고침: 30초~5분 간격 설정 가능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56032" y="4407408"/>
            <a:ext cx="8631936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56032" y="4407408"/>
            <a:ext cx="73152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40740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4ED8"/>
                </a:solidFill>
              </a:rPr>
              <a:t>💡  모니터링 페이지에서 장치의 실제 화면을 실시간으로 확인할 수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긴급 방송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10 / Emergency Broadcast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5486400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D:\work\claude_project\magicinfo\screenshots\10_emergenc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22960"/>
            <a:ext cx="54864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86868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9048" y="8503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긴급 방송이란?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12801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1216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전체/특정 장치에 즉시 메시지 표시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53912" y="1591056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1072" y="151790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STORE_MANAGER 이상 권한 필요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89320" y="1929384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99048" y="19110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설정 항목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23408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0488" y="22768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유형: 정보 / 경고 / 위험 / 커스텀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264261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0488" y="2578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표시 방식: 오버레이 / 전체화면 / 티커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294436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0488" y="2880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자동 종료: 30분~24시간 후 자동 해제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324612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0488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대상: 전체 / 특정 매장 / 특정 장치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89320" y="3621024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99048" y="36027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해제 방법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153912" y="4041648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91072" y="3968496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활성 메시지 목록 → 비활성화 버튼 클릭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56032" y="4407408"/>
            <a:ext cx="8631936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6032" y="4407408"/>
            <a:ext cx="73152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440740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4ED8"/>
                </a:solidFill>
              </a:rPr>
              <a:t>💡  긴급 방송은 스케줄보다 최우선으로 표시됩니다. 해제 전까지 계속 노출됩니다.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스크린 월 &amp; 동기화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11 / Screen Wall &amp; Sync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5486400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D:\work\claude_project\magicinfo\screenshots\11_screenwa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22960"/>
            <a:ext cx="54864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86868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9048" y="8503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스크린 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12801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1216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여러 모니터를 하나의 큰 화면으로 구성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158191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0488" y="15179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행×열 격자 배열 + 베젤 보정값(mm) 설정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53912" y="1892808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91072" y="1819656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격자 셀 클릭 → 장치 배치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2231136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99048" y="22128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동기화 그룹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264261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0488" y="2578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여러 장치가 정확히 같은 타이밍에 재생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294436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0488" y="2880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LAN 모드: ±50ms 고정밀 (같은 네트워크)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324612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0488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WAN 모드: ±500ms (인터넷 환경)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89320" y="3621024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99048" y="36027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마스터 장치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153912" y="4041648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91072" y="3968496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그룹 내 기준이 되는 장치를 지정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56032" y="4407408"/>
            <a:ext cx="8631936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6032" y="4407408"/>
            <a:ext cx="73152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440740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4ED8"/>
                </a:solidFill>
              </a:rPr>
              <a:t>💡  베젤 보정을 설정하면 모니터 테두리 두께만큼 이미지를 조정해 이음새가 자연스럽습니다.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캔버스 에디터 &amp; 레이아웃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12 / Canvas &amp; Layouts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5486400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D:\work\claude_project\magicinfo\screenshots\13_canv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22960"/>
            <a:ext cx="54864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86868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9048" y="8503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캔버스 에디터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12801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1216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직접 사이니지 화면 제작 (노코드 디자인)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158191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0488" y="15179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위젯: 시계, 날씨, RSS, QR코드, 차트 등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53912" y="1892808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91072" y="1819656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단축키: Ctrl+S 저장, Ctrl+Z 실행 취소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2231136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99048" y="22128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레이아웃 (멀티존)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264261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0488" y="2578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화면을 여러 영역으로 분할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53912" y="2953512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91072" y="2880360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메인 영상 + 날씨 + 뉴스 동시 표시 가능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35040" y="321868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0488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스케줄에서 "레이아웃" 소스로 선택 사용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89320" y="3593592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99048" y="35753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버전 관리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153912" y="4014216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91072" y="3941064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캔버스 수정 이력 저장 및 복원 가능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56032" y="4407408"/>
            <a:ext cx="8631936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6032" y="4407408"/>
            <a:ext cx="73152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440740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4ED8"/>
                </a:solidFill>
              </a:rPr>
              <a:t>💡  캔버스로 만든 콘텐츠는 일반 콘텐츠처럼 플레이리스트에 추가할 수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관리자 기능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14 / Admin 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5486400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D:\work\claude_project\magicinfo\screenshots\15_us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822960"/>
            <a:ext cx="54864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868680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9048" y="8503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사용자 관리 (TENANT_ADMIN 이상)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12801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1216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계정 생성·역할 변경·활성화 관리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1655064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99048" y="16367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매장 관리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206654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0488" y="20025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매장 생성·편집 및 장치/사용자 배정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2441448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99048" y="24231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설정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285292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0488" y="2788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서버 정보, 스토리지, 보안 설정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3154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0488" y="3090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최대 파일 크기 및 허용 형식 관리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89320" y="3529584"/>
            <a:ext cx="54864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99048" y="35112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구독 &amp; 웹훅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035040" y="39410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90488" y="3877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현재 플랜 및 장치 수 제한 확인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153912" y="4251960"/>
            <a:ext cx="73152" cy="731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91072" y="4178808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웹훅: 외부 시스템(슬랙 등)과 연동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56032" y="4407408"/>
            <a:ext cx="8631936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6032" y="4407408"/>
            <a:ext cx="73152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440740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4ED8"/>
                </a:solidFill>
              </a:rPr>
              <a:t>💡  설정 메뉴는 TENANT_ADMIN 이상 계정에서만 접근할 수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743200"/>
            <a:ext cx="2011680" cy="201168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SignFlow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5C8FF"/>
                </a:solidFill>
              </a:rPr>
              <a:t>디지털 사이니지, 더 쉽게 관리하세요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532888"/>
            <a:ext cx="27432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880360"/>
            <a:ext cx="137160" cy="1371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8163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채널 = 스케줄 없을 때 재생되는 기본 콘텐츠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319272"/>
            <a:ext cx="137160" cy="1371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25526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스케줄 = 배포(Deploy) 버튼까지 눌러야 적용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758184"/>
            <a:ext cx="137160" cy="1371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6941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조건부 재생 = 태그로 장치마다 다른 콘텐츠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v5.5  |  문의: 시스템 관리자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SignFlow 사용자 매뉴얼</dc:title>
  <dc:subject>PptxGenJS Presentation</dc:subject>
  <dc:creator>SignFlow</dc:creator>
  <cp:lastModifiedBy>SignFlow</cp:lastModifiedBy>
  <cp:revision>1</cp:revision>
  <dcterms:created xsi:type="dcterms:W3CDTF">2026-04-02T06:42:44Z</dcterms:created>
  <dcterms:modified xsi:type="dcterms:W3CDTF">2026-04-02T06:42:44Z</dcterms:modified>
</cp:coreProperties>
</file>